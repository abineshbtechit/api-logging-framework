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5486400" cy="5486400"/>
          </a:xfrm>
          <a:prstGeom prst="rect">
            <a:avLst/>
          </a:prstGeom>
          <a:solidFill>
            <a:srgbClr val="651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-1371600"/>
            <a:ext cx="5486400" cy="54864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4114800"/>
            <a:ext cx="3657600" cy="36576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BE"/>
                </a:solidFill>
                <a:latin typeface="Calibri"/>
              </a:defRPr>
            </a:pPr>
            <a:r>
              <a:t>⚡ API LOGGING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Production-Grade Full-Stack Platform for Centralized API Observability</a:t>
            </a:r>
          </a:p>
          <a:p>
            <a:pPr algn="l">
              <a:spcAft>
                <a:spcPts val="2000"/>
              </a:spcAft>
              <a:defRPr sz="1600" b="0">
                <a:solidFill>
                  <a:srgbClr val="E6E6F0"/>
                </a:solidFill>
                <a:latin typeface="Calibri"/>
              </a:defRPr>
            </a:pPr>
            <a:r>
              <a:t>Capture every request &amp; response, monitor performance, and give teams complete visibility into API traffic — without slowing it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1828800" cy="365760"/>
          </a:xfrm>
          <a:prstGeom prst="round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Laravel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474720"/>
            <a:ext cx="1828800" cy="365760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+ Axios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474720"/>
            <a:ext cx="1828800" cy="365760"/>
          </a:xfrm>
          <a:prstGeom prst="round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 Dual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474720"/>
            <a:ext cx="1828800" cy="36576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Sanctum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474720"/>
            <a:ext cx="1828800" cy="36576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AWS EC2 + 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E6E6F0"/>
                </a:solidFill>
                <a:latin typeface="Calibri"/>
              </a:defRPr>
            </a:pPr>
            <a:r>
              <a:t>Built and iterated through three real implementation attempts before arriving at final production architecture.</a:t>
            </a:r>
          </a:p>
          <a:p>
            <a:pPr algn="l">
              <a:spcAft>
                <a:spcPts val="1200"/>
              </a:spcAft>
              <a:defRPr sz="1500" b="1">
                <a:solidFill>
                  <a:srgbClr val="FFD23F"/>
                </a:solidFill>
                <a:latin typeface="Calibri"/>
              </a:defRPr>
            </a:pPr>
            <a:r>
              <a:t>🔥 Fully engineered observability layer — not a bolt-on library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4B4C8"/>
                </a:solidFill>
                <a:latin typeface="Calibri"/>
              </a:defRPr>
            </a:pPr>
            <a:r>
              <a:t>📍  Laravel • React • PostgreSQL • AWS • Nginx • Sanctum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097280"/>
            <a:ext cx="3200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280160"/>
            <a:ext cx="2743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  <a:defRPr sz="1400" b="1">
                <a:solidFill>
                  <a:srgbClr val="6C2BD9"/>
                </a:solidFill>
                <a:latin typeface="Calibri"/>
              </a:defRPr>
            </a:pPr>
            <a:r>
              <a:t>🚀 CORE HIGHLIGHTS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Every Request Logged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Zero-Latency via terminate()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Global Middleware Coverage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Dual DB Isolation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Role-Based Access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Advanced Log Filters</a:t>
            </a:r>
          </a:p>
          <a:p>
            <a:pPr algn="l">
              <a:spcAft>
                <a:spcPts val="200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✓  AWS Production Ready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F2D55"/>
                </a:solidFill>
                <a:latin typeface="Calibri"/>
              </a:defRPr>
            </a:pPr>
            <a:r>
              <a:t>200  201  400  401  403  404  422  500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646464"/>
                </a:solidFill>
                <a:latin typeface="Calibri"/>
              </a:defRPr>
            </a:pPr>
            <a:r>
              <a:t>All status codes captured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📑 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0" cy="100584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630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Overview &amp; Problem Statement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Why observability matters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822960" cy="100584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087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4630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Every technology chosen deliberately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822960" cy="10058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7432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System Architecture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Request flow &amp; middleware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51760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651760"/>
            <a:ext cx="822960" cy="10058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7432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Modules Deep Dive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Auth, RBAC, CRUD, Logging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822960" cy="100584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023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Log Filter API &amp; Dual DB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Query &amp; isolation strategy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31920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931920"/>
            <a:ext cx="822960" cy="10058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0690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023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Deployment &amp; Setup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AWS, Local Setup, Env Variables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79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212079"/>
            <a:ext cx="822960" cy="10058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4923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30351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Engineering Decisions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Trade-offs &amp; non-obvious choices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5212079"/>
            <a:ext cx="5303520" cy="100584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5212079"/>
            <a:ext cx="822960" cy="10058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34923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5303519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41414"/>
                </a:solidFill>
                <a:latin typeface="Calibri"/>
              </a:defRPr>
            </a:pPr>
            <a:r>
              <a:t>Feature Checklist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6478"/>
                </a:solidFill>
                <a:latin typeface="Calibri"/>
              </a:defRPr>
            </a:pPr>
            <a:r>
              <a:t>What shipped in current version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E6F0"/>
                </a:solidFill>
                <a:latin typeface="Calibri"/>
              </a:defRPr>
            </a:pPr>
            <a:r>
              <a:t>API Logging Framework • Production-Grade Observability Platform • Laravel + React +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🌟 OVERVIEW — What problem does this solve?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00" cy="7315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2D55"/>
                </a:solidFill>
                <a:latin typeface="Calibri"/>
              </a:defRPr>
            </a:pPr>
            <a:r>
              <a:t>🔴 THE PROBLEM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Most APIs are invisible until something breaks. Without structured logging, developers fall back on: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• Scattered var_dump() calls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• Generic web-server logs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• Expensive third-party APM tools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82828"/>
                </a:solidFill>
                <a:latin typeface="Calibri"/>
              </a:defRPr>
            </a:pPr>
            <a:r>
              <a:t>Basic questions remain unanswered: Who called? What did they send? Why did it fail?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486400" cy="7315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00D2BE"/>
                </a:solidFill>
                <a:latin typeface="Calibri"/>
              </a:defRPr>
            </a:pPr>
            <a:r>
              <a:t>🟢 THE SOLUTION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3C3C3C"/>
                </a:solidFill>
                <a:latin typeface="Calibri"/>
              </a:defRPr>
            </a:pPr>
            <a:r>
              <a:t>API Logging Framework captures, stores, filters, and manages logs for every single API request &amp; response — success or failure.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282828"/>
                </a:solidFill>
                <a:latin typeface="Calibri"/>
              </a:defRPr>
            </a:pPr>
            <a:r>
              <a:t>✓ Zero impact on response time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282828"/>
                </a:solidFill>
                <a:latin typeface="Calibri"/>
              </a:defRPr>
            </a:pPr>
            <a:r>
              <a:t>✓ Fully engineered observability layer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282828"/>
                </a:solidFill>
                <a:latin typeface="Calibri"/>
              </a:defRPr>
            </a:pPr>
            <a:r>
              <a:t>✓ Iterated through 3 real implementations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1064240" cy="1371600"/>
          </a:xfrm>
          <a:prstGeom prst="round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👥 TWO ROLES. ONE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21228"/>
                </a:solidFill>
                <a:latin typeface="Calibri"/>
              </a:defRPr>
            </a:pPr>
            <a:r>
              <a:t>🎓 Professor  →  Create, update, delete notes; full read access; managed via Student CRUD  [WRITE + READ]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9768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121228"/>
                </a:solidFill>
                <a:latin typeface="Calibri"/>
              </a:defRPr>
            </a:pPr>
            <a:r>
              <a:t>👨‍🎓 Student  →  Read-only access to notes; authenticated via Sanctum token  [READ ONLY]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86400"/>
            <a:ext cx="11064240" cy="91440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503C00"/>
                </a:solidFill>
                <a:latin typeface="Calibri"/>
              </a:defRPr>
            </a:pPr>
            <a:r>
              <a:t>💡 Key Differentiator: This is not a bolt-on logging library. It's a production observability layer built to answer who, what, why for every API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🛠️ TECH STACK — Every technology chosen deliberately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743200" cy="54864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🚀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Laravel, PHP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REST APIs, routing, middleware pipeline, Eloquent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743200" cy="54864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⚛️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React, Axios, Bootstrap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SPA client, HTTP communication,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743200" cy="54864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🔐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Laravel Sanctum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Lightweight, revocable token-based API 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37160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371600"/>
            <a:ext cx="2743200" cy="54864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🐘 Primary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116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PostgreSQL (pgsql)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Students, notes, personal access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📊 Logging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PostgreSQL (log_pgsql)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Isolated storage for api_logs — separate connection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93192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3931920"/>
            <a:ext cx="2743200" cy="5486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☁️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5720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AWS EC2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Production hosting, backup vault &amp;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93192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931920"/>
            <a:ext cx="27432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🌐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720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Ubuntu, Nginx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OS + reverse proxy + static file serving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3931920"/>
            <a:ext cx="2743200" cy="22860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0" y="3931920"/>
            <a:ext cx="2743200" cy="548640"/>
          </a:xfrm>
          <a:prstGeom prst="rect">
            <a:avLst/>
          </a:prstGeom>
          <a:solidFill>
            <a:srgbClr val="78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3977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🧰 Tooling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5720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141414"/>
                </a:solidFill>
                <a:latin typeface="Calibri"/>
              </a:defRPr>
            </a:pPr>
            <a:r>
              <a:t>Git, Postman, Composer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50505A"/>
                </a:solidFill>
                <a:latin typeface="Calibri"/>
              </a:defRPr>
            </a:pPr>
            <a:r>
              <a:t>Version control, testing, dependency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🏗️ SYSTEM ARCHITECTURE — How a request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74520"/>
            <a:ext cx="45720" cy="27432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645920" cy="50292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CLIENT (BROWSER)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React Frontend → Axios HTTP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45720" cy="27432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645920" cy="5029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LARAVEL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Global Middleware ApiLoggerMiddleware::handle() starts timer ⏱️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246120"/>
            <a:ext cx="45720" cy="27432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1645920" cy="5029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Sanctum — Validate token, identify user &amp;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931920"/>
            <a:ext cx="45720" cy="27432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1645920" cy="50292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Business logic / validation / CRUD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617720"/>
            <a:ext cx="45720" cy="27432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1645920" cy="50292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MAIN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PostgreSQL pgsql — students | notes |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303520"/>
            <a:ext cx="45720" cy="274320"/>
          </a:xfrm>
          <a:prstGeom prst="rect">
            <a:avLst/>
          </a:prstGeom>
          <a:solidFill>
            <a:srgbClr val="E6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1645920" cy="50292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RESPONSE SENT IMMEDIATELY 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846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23F"/>
                </a:solidFill>
                <a:latin typeface="Calibri"/>
              </a:defRPr>
            </a:pPr>
            <a:r>
              <a:t>Client receives response — ZERO waiting for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86400"/>
            <a:ext cx="1645920" cy="5029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TERMINATE 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532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6F0"/>
                </a:solidFill>
                <a:latin typeface="Calibri"/>
              </a:defRPr>
            </a:pPr>
            <a:r>
              <a:t>ApiLoggerMiddleware::terminate() AFTER response → log_pgsql api_logs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1371600"/>
            <a:ext cx="45720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6C2BD9"/>
                </a:solidFill>
                <a:latin typeface="Calibri"/>
              </a:defRPr>
            </a:pPr>
            <a:r>
              <a:t>💎 WHY THIS MATTERS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Global Middleware Guarantee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Registered globally in Kernel.php, not inside route group. Runs on EVERY request — including those that never reach controller (401, 403, 404).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Zero Latency Design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Log write happens in terminate(), AFTER client already has response. Database write never adds to user-perceived latency.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Captured Fields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3C"/>
                </a:solidFill>
                <a:latin typeface="Calibri"/>
              </a:defRPr>
            </a:pPr>
            <a:r>
              <a:t>• Authenticated user &amp; role</a:t>
            </a:r>
            <a:br/>
            <a:r>
              <a:t>• HTTP method, endpoint, headers</a:t>
            </a:r>
            <a:br/>
            <a:r>
              <a:t>• Request body, response body</a:t>
            </a:r>
            <a:br/>
            <a:r>
              <a:t>• IP, user-agent, status code</a:t>
            </a:r>
            <a:br/>
            <a:r>
              <a:t>• Precise response time (ms)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FF2D55"/>
                </a:solidFill>
                <a:latin typeface="Calibri"/>
              </a:defRPr>
            </a:pPr>
            <a:r>
              <a:t>🔐 All outcomes logged: 200 201 400 401 403 404 422 500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🖼️ SYSTEM ARCHITECTURE DIAGRAM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37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Visual representation of request flow through global middleware, dual databases, and zero-latency termination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📸 SCREENSHOTS — Visual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577840" cy="32004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Student Dashboard</a:t>
            </a:r>
          </a:p>
        </p:txBody>
      </p:sp>
      <p:pic>
        <p:nvPicPr>
          <p:cNvPr id="7" name="Picture 6" descr="im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577840" cy="32004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Notes Dashboard</a:t>
            </a:r>
          </a:p>
        </p:txBody>
      </p:sp>
      <p:pic>
        <p:nvPicPr>
          <p:cNvPr id="11" name="Picture 10" descr="image 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5212080" cy="1737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4023360"/>
            <a:ext cx="5577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5577840" cy="32004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Student CRUD</a:t>
            </a:r>
          </a:p>
        </p:txBody>
      </p:sp>
      <p:pic>
        <p:nvPicPr>
          <p:cNvPr id="15" name="Picture 14" descr="imag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80560"/>
            <a:ext cx="5212080" cy="17373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00800" y="4023360"/>
            <a:ext cx="5577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5577840" cy="32004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Create Notes</a:t>
            </a:r>
          </a:p>
        </p:txBody>
      </p:sp>
      <p:pic>
        <p:nvPicPr>
          <p:cNvPr id="19" name="Picture 18" descr="image 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480560"/>
            <a:ext cx="52120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🧩 MODULES — Feature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88920" cy="73152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🔐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Token-based login via Sanctum, Bcrypt hash, /me endpoint, login alert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37160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9272" y="1371600"/>
            <a:ext cx="2788920" cy="73152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🛡️ 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920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Professor vs Student, RoleMiddleware + controller-level checks, second line of defense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7160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371600"/>
            <a:ext cx="278892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👨‍🎓 Student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1920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Full GET/POST/PUT/DELETE, Form Request validation, $fillable protection against mass-assignment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37160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26296" y="1371600"/>
            <a:ext cx="2788920" cy="73152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5544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📝 Notes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192024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One-to-Many: Student hasMany Notes, belongsTo Student via user_id, write restricted to Professors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2336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2788920" cy="7315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📡 API Logging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Global middleware, captures method, headers, bodies, IP, UA, status, response time — every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402336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4023360"/>
            <a:ext cx="2788920" cy="73152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4206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🔍 Log Filter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457200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Query by method, status_code, from/to date, endpoint partial, user_id — paginated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402336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4023360"/>
            <a:ext cx="2788920" cy="7315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4206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💾 Dual-DB 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57200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pgsql for app data, log_pgsql for api_logs, no lock contention, isolation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26296" y="4023360"/>
            <a:ext cx="27889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26296" y="4023360"/>
            <a:ext cx="2788920" cy="73152"/>
          </a:xfrm>
          <a:prstGeom prst="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9176" y="4206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1414"/>
                </a:solidFill>
                <a:latin typeface="Calibri"/>
              </a:defRPr>
            </a:pPr>
            <a:r>
              <a:t>☁️ AWS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457200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64650"/>
                </a:solidFill>
                <a:latin typeface="Calibri"/>
              </a:defRPr>
            </a:pPr>
            <a:r>
              <a:t>Ubuntu EC2 + Nginx reverse proxy + React static + PHP-FPM + AWS Backup vault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📡 API LOGGING MIDDLEWARE — The Core of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858000" cy="502920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FF2D55"/>
                </a:solidFill>
                <a:latin typeface="Calibri"/>
              </a:defRPr>
            </a:pPr>
            <a:r>
              <a:t>🔥 How It Works</a:t>
            </a:r>
          </a:p>
          <a:p>
            <a:pPr algn="l">
              <a:spcAft>
                <a:spcPts val="1400"/>
              </a:spcAft>
              <a:defRPr sz="1200" b="0">
                <a:solidFill>
                  <a:srgbClr val="32323C"/>
                </a:solidFill>
                <a:latin typeface="Calibri"/>
              </a:defRPr>
            </a:pPr>
            <a:r>
              <a:t>Every request &amp; response captured: authenticated user, role, HTTP method, endpoint, headers, request body, response body, IP, user-agent, status code, precise response time.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1️⃣ Global Registration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Registered as global middleware in Kernel.php $middleware array — not inside api group. Middleware groups only execute after router matches route, so 401/403/404 never reached logger before. Global guarantees every outcome captured.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2️⃣ handle() — Timer Start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ApiLoggerMiddleware::handle() starts microtime timer, lets request continue through pipeline.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3️⃣ terminate() — Zero-Latency Write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Laravel calls terminate() ONLY after response already sent to client. ApiLog::create() DB write happens behind scenes, zero perceived latency. Client never waits.</a:t>
            </a:r>
          </a:p>
          <a:p>
            <a:pPr algn="l">
              <a:spcAft>
                <a:spcPts val="600"/>
              </a:spcAft>
              <a:defRPr sz="1100" b="1">
                <a:solidFill>
                  <a:srgbClr val="6C2BD9"/>
                </a:solidFill>
                <a:latin typeface="Calibri"/>
              </a:defRPr>
            </a:pPr>
            <a:r>
              <a:t>✅ Covers: 200, 201, 400, 401, 403, 404, 422, 500 — without exception.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931920" cy="2468880"/>
          </a:xfrm>
          <a:prstGeom prst="round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46304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FFD23F"/>
                </a:solidFill>
                <a:latin typeface="Calibri"/>
              </a:defRPr>
            </a:pPr>
            <a:r>
              <a:t>Kernel.php</a:t>
            </a:r>
          </a:p>
          <a:p>
            <a:pPr algn="l">
              <a:spcAft>
                <a:spcPts val="1400"/>
              </a:spcAft>
              <a:defRPr sz="1000" b="0">
                <a:solidFill>
                  <a:srgbClr val="E6E6F0"/>
                </a:solidFill>
                <a:latin typeface="Consolas"/>
              </a:defRPr>
            </a:pPr>
            <a:r>
              <a:t>protected $middleware = [</a:t>
            </a:r>
            <a:br/>
            <a:r>
              <a:t>  // ...</a:t>
            </a:r>
            <a:br/>
            <a:r>
              <a:t>  \App\Http\Middleware\ApiLoggerMiddleware::class,</a:t>
            </a:r>
            <a:br/>
            <a:r>
              <a:t>];</a:t>
            </a:r>
          </a:p>
          <a:p>
            <a:pPr algn="l">
              <a:spcAft>
                <a:spcPts val="800"/>
              </a:spcAft>
              <a:defRPr sz="1200" b="1">
                <a:solidFill>
                  <a:srgbClr val="FFD23F"/>
                </a:solidFill>
                <a:latin typeface="Calibri"/>
              </a:defRPr>
            </a:pPr>
            <a:r>
              <a:t>ApiLoggerMiddleware.php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onsolas"/>
              </a:defRPr>
            </a:pPr>
            <a:r>
              <a:t>public function handle($req, $next){</a:t>
            </a:r>
            <a:br/>
            <a:r>
              <a:t>  $this-&gt;start = microtime(true);</a:t>
            </a:r>
            <a:br/>
            <a:r>
              <a:t>  return $next($req);</a:t>
            </a:r>
            <a:br/>
            <a:r>
              <a:t>}</a:t>
            </a:r>
            <a:br/>
            <a:r>
              <a:t>public function terminate($req, $res){</a:t>
            </a:r>
            <a:br/>
            <a:r>
              <a:t>  ApiLog::create([...]); // log_pgsql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023360"/>
            <a:ext cx="3931920" cy="237744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785000"/>
                </a:solidFill>
                <a:latin typeface="Calibri"/>
              </a:defRPr>
            </a:pPr>
            <a:r>
              <a:t>⚡ Performance Win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503C00"/>
                </a:solidFill>
                <a:latin typeface="Calibri"/>
              </a:defRPr>
            </a:pPr>
            <a:r>
              <a:t>Inline logging in handle(): client waits for DB write → slows every API call under load.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503C00"/>
                </a:solidFill>
                <a:latin typeface="Calibri"/>
              </a:defRPr>
            </a:pPr>
            <a:r>
              <a:t>terminate() approach: client response sent FIRST, log write AFTER. Same request lifecycle, no extra infra, zero perceived latency.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64500A"/>
                </a:solidFill>
                <a:latin typeface="Calibri"/>
              </a:defRPr>
            </a:pPr>
            <a:r>
              <a:t>Queue (ShouldQueue) was evaluated first but required worker, jobs table, operational complexity — overkill.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🔍 LOG FILTER API + 💾 DUAL-DB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669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669280" cy="4572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🔎 Log Filter API — Query Parameters (Paginated)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371600" cy="36576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920240"/>
            <a:ext cx="1371600" cy="36576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Query Param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20240"/>
            <a:ext cx="2560320" cy="36576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385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137160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331720"/>
            <a:ext cx="137160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2BD9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31720"/>
            <a:ext cx="256032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331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64650"/>
                </a:solidFill>
                <a:latin typeface="Calibri"/>
              </a:defRPr>
            </a:pPr>
            <a:r>
              <a:t>GET, POST, PUT, DELETE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97479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97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Calibri"/>
              </a:defRPr>
            </a:pPr>
            <a:r>
              <a:t>Status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697479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6974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2BD9"/>
                </a:solidFill>
                <a:latin typeface="Calibri"/>
              </a:defRPr>
            </a:pPr>
            <a:r>
              <a:t>status_code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697479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6974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64650"/>
                </a:solidFill>
                <a:latin typeface="Calibri"/>
              </a:defRPr>
            </a:pPr>
            <a:r>
              <a:t>Exact — e.g. 404, 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063239"/>
            <a:ext cx="137160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0632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Calibri"/>
              </a:defRPr>
            </a:pPr>
            <a:r>
              <a:t>Date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063239"/>
            <a:ext cx="137160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30632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2BD9"/>
                </a:solidFill>
                <a:latin typeface="Calibri"/>
              </a:defRPr>
            </a:pPr>
            <a:r>
              <a:t>from / 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063239"/>
            <a:ext cx="256032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0632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64650"/>
                </a:solidFill>
                <a:latin typeface="Calibri"/>
              </a:defRPr>
            </a:pPr>
            <a:r>
              <a:t>Timestamp 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42900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29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429000"/>
            <a:ext cx="1371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3429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2BD9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342900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3429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64650"/>
                </a:solidFill>
                <a:latin typeface="Calibri"/>
              </a:defRPr>
            </a:pPr>
            <a:r>
              <a:t>Partial match against URI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794760"/>
            <a:ext cx="137160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94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1E1E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3794760"/>
            <a:ext cx="137160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3794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2BD9"/>
                </a:solidFill>
                <a:latin typeface="Calibri"/>
              </a:defRPr>
            </a:pPr>
            <a:r>
              <a:t>user_id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3794760"/>
            <a:ext cx="2560320" cy="3200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3794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64650"/>
                </a:solidFill>
                <a:latin typeface="Calibri"/>
              </a:defRPr>
            </a:pPr>
            <a:r>
              <a:t>Filter by authenticated user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206240"/>
            <a:ext cx="5303520" cy="64008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23F"/>
                </a:solidFill>
                <a:latin typeface="Calibri"/>
              </a:defRPr>
            </a:pPr>
            <a:r>
              <a:t>GET /api/logs?method=POST&amp;status_code=422&amp;from=2024-01-01&amp;user_id=5  →  paginated JSON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663440"/>
            <a:ext cx="56692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7548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C2BD9"/>
                </a:solidFill>
                <a:latin typeface="Calibri"/>
              </a:defRPr>
            </a:pPr>
            <a:r>
              <a:t>💾 Dual PostgreSQL — Why Two DBs?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• pgsql (default) → students, notes, personal_access_tokens (core app data)</a:t>
            </a:r>
            <a:br/>
            <a:r>
              <a:t>• log_pgsql → api_logs table, dedicated connection in ApiLog model</a:t>
            </a:r>
            <a:br/>
            <a:r>
              <a:t>• Isolation prevents high-volume log writes from causing lock contention / perf degradation on business tables</a:t>
            </a:r>
            <a:br/>
            <a:r>
              <a:t>• Configured in config/database.php via two separate connection definitions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371600"/>
            <a:ext cx="54864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☁️ AWS DEPLOYMENT — Production 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20116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82828"/>
                </a:solidFill>
                <a:latin typeface="Calibri"/>
              </a:defRPr>
            </a:pPr>
            <a:r>
              <a:t>Single Ubuntu EC2 Instance hosts entire stack: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• Nginx → static file server (React build) + reverse proxy (API → PHP-FPM)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• Laravel backend + both PostgreSQL DBs</a:t>
            </a:r>
          </a:p>
          <a:p>
            <a:pPr algn="l">
              <a:spcAft>
                <a:spcPts val="12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• AWS Backup: vault, plan, recovery points for disaster recovery</a:t>
            </a:r>
          </a:p>
          <a:p>
            <a:pPr algn="l">
              <a:spcAft>
                <a:spcPts val="600"/>
              </a:spcAft>
              <a:defRPr sz="1000" b="1">
                <a:solidFill>
                  <a:srgbClr val="00D2BE"/>
                </a:solidFill>
                <a:latin typeface="Calibri"/>
              </a:defRPr>
            </a:pPr>
            <a:r>
              <a:t>Architecture: Client → Nginx → React / Laravel → Main DB → Response → Terminate → Log 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572000"/>
            <a:ext cx="5486400" cy="1645920"/>
          </a:xfrm>
          <a:prstGeom prst="round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23F"/>
                </a:solidFill>
                <a:latin typeface="Calibri"/>
              </a:defRPr>
            </a:pPr>
            <a:r>
              <a:t>🔐 RBAC — Role Enforcement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E6E6F0"/>
                </a:solidFill>
                <a:latin typeface="Calibri"/>
              </a:defRPr>
            </a:pPr>
            <a:r>
              <a:t>Professor: Full CRUD on notes, full read, managed via Student CRUD</a:t>
            </a:r>
            <a:br/>
            <a:r>
              <a:t>Student: Read-only notes, Sanctum token auth</a:t>
            </a:r>
            <a:br/>
            <a:r>
              <a:t>Enforced via RoleMiddleware (route level) + controller logic (second line)</a:t>
            </a:r>
            <a:br/>
            <a:r>
              <a:t>Validation: Form Request + $fillable allow-list → prevents mass-assignment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⚙️ LOCAL SETUP — Get Full Stack Running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926080" cy="1097280"/>
          </a:xfrm>
          <a:prstGeom prst="round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21228"/>
                </a:solidFill>
                <a:latin typeface="Calibri"/>
              </a:defRPr>
            </a:pPr>
            <a:r>
              <a:t>📋 Prerequisites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3C3C46"/>
                </a:solidFill>
                <a:latin typeface="Calibri"/>
              </a:defRPr>
            </a:pPr>
            <a:r>
              <a:t>PHP 8.1+ • Composer 2.0+</a:t>
            </a:r>
            <a:br/>
            <a:r>
              <a:t>Node.js 18+ • PostgreSQL 13+</a:t>
            </a:r>
            <a:br/>
            <a:r>
              <a:t>Two DBs: main app + logging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1️⃣ Clone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3291840" cy="283464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6F0"/>
                </a:solidFill>
                <a:latin typeface="Calibri"/>
              </a:defRPr>
            </a:pPr>
            <a:r>
              <a:t>git clone &lt;repo-url&gt;</a:t>
            </a:r>
            <a:br/>
            <a:r>
              <a:t>cd api-logging-framework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5176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657600" cy="4572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2️⃣ Backend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291840"/>
            <a:ext cx="3291840" cy="283464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37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6F0"/>
                </a:solidFill>
                <a:latin typeface="Calibri"/>
              </a:defRPr>
            </a:pPr>
            <a:r>
              <a:t>cd backend</a:t>
            </a:r>
            <a:br/>
            <a:r>
              <a:t>composer install</a:t>
            </a:r>
            <a:br/>
            <a:r>
              <a:t>cp .env.example .env</a:t>
            </a:r>
            <a:br/>
            <a:r>
              <a:t>php artisan key:generate</a:t>
            </a:r>
            <a:br/>
            <a:r>
              <a:t>php artisan migrate</a:t>
            </a:r>
            <a:br/>
            <a:r>
              <a:t>php artisan migrate --database=log_pgsql</a:t>
            </a:r>
            <a:br/>
            <a:r>
              <a:t>php artisan storage:link</a:t>
            </a:r>
            <a:br/>
            <a:r>
              <a:t>php artisan 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51760"/>
            <a:ext cx="36576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651760"/>
            <a:ext cx="3657600" cy="457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3️⃣ Frontend Setup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291840"/>
            <a:ext cx="3291840" cy="283464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337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6F0"/>
                </a:solidFill>
                <a:latin typeface="Calibri"/>
              </a:defRPr>
            </a:pPr>
            <a:r>
              <a:t>cd frontend</a:t>
            </a:r>
            <a:br/>
            <a:r>
              <a:t>npm install</a:t>
            </a:r>
            <a:br/>
            <a:r>
              <a:t>npm run dev</a:t>
            </a:r>
            <a:br/>
            <a:br/>
            <a:r>
              <a:t>→ http://localhost:5173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03C00"/>
                </a:solidFill>
                <a:latin typeface="Calibri"/>
              </a:defRPr>
            </a:pPr>
            <a:r>
              <a:t>🔑 ENV VARIABLES: DB_CONNECTION, DB_HOST/DATABASE/USERNAME/PASSWORD, LOG_DB_* (log_pgsql), SANCTUM_STATEFUL_DOMAINS, MAIL_* for login alerts • .env is gitignored — never commit!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📁 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1E1E1E"/>
                </a:solidFill>
                <a:latin typeface="Consolas"/>
              </a:defRPr>
            </a:pPr>
            <a:r>
              <a:t>api-logging-framework/</a:t>
            </a:r>
            <a:br/>
            <a:r>
              <a:t>├── backend/</a:t>
            </a:r>
            <a:br/>
            <a:r>
              <a:t>│   ├── app/Http/</a:t>
            </a:r>
            <a:br/>
            <a:r>
              <a:t>│   │   ├── Controllers/  → Auth, Student, Note, LogController</a:t>
            </a:r>
            <a:br/>
            <a:r>
              <a:t>│   │   ├── Middleware/</a:t>
            </a:r>
            <a:br/>
            <a:r>
              <a:t>│   │   │   ├── ApiLoggerMiddleware.php (global + terminate)</a:t>
            </a:r>
            <a:br/>
            <a:r>
              <a:t>│   │   │   └── RoleMiddleware.php (route-level RBAC)</a:t>
            </a:r>
            <a:br/>
            <a:r>
              <a:t>│   │   └── Kernel.php (global / group / route registration)</a:t>
            </a:r>
            <a:br/>
            <a:r>
              <a:t>│   ├── Models/</a:t>
            </a:r>
            <a:br/>
            <a:r>
              <a:t>│   │   ├── Student.php (hasMany Note)</a:t>
            </a:r>
            <a:br/>
            <a:r>
              <a:t>│   │   ├── Note.php (belongsTo Student)</a:t>
            </a:r>
            <a:br/>
            <a:r>
              <a:t>│   │   └── ApiLog.php (uses log_pgsql)</a:t>
            </a:r>
            <a:br/>
            <a:r>
              <a:t>│   ├── config/database.php (pgsql + log_pgsql)</a:t>
            </a:r>
            <a:br/>
            <a:r>
              <a:t>│   ├── database/migrations/</a:t>
            </a:r>
            <a:br/>
            <a:r>
              <a:t>│   ├── routes/api.php</a:t>
            </a:r>
            <a:br/>
            <a:r>
              <a:t>│   └── composer.json</a:t>
            </a:r>
            <a:br/>
            <a:r>
              <a:t>│</a:t>
            </a:r>
            <a:br/>
            <a:r>
              <a:t>└── frontend/</a:t>
            </a:r>
            <a:br/>
            <a:r>
              <a:t>    ├── src/components/ + pages/</a:t>
            </a:r>
            <a:br/>
            <a:r>
              <a:t>    │   ├── LoginPage.jsx, NotesPage.jsx</a:t>
            </a:r>
            <a:br/>
            <a:r>
              <a:t>    │   ├── StudentsPage.jsx, LogsPage.jsx (filterable)</a:t>
            </a:r>
            <a:br/>
            <a:r>
              <a:t>    │   └── services/api.js (Axios + Sanctum token)</a:t>
            </a:r>
            <a:br/>
            <a:r>
              <a:t>    └── package.json / vite.config.js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23F"/>
                </a:solidFill>
                <a:latin typeface="Calibri"/>
              </a:defRPr>
            </a:pPr>
            <a:r>
              <a:t>⭐ KEY FILES TO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303520" cy="6400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109728" cy="64008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ApiLoggerMiddleware.php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alibri"/>
              </a:defRPr>
            </a:pPr>
            <a:r>
              <a:t>Global + terminate, zero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303520" cy="6400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606040"/>
            <a:ext cx="109728" cy="64008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RoleMiddleware.php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alibri"/>
              </a:defRPr>
            </a:pPr>
            <a:r>
              <a:t>Professor vs Student enforcement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303520" cy="6400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383280"/>
            <a:ext cx="109728" cy="6400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29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ApiLog.php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alibri"/>
              </a:defRPr>
            </a:pPr>
            <a:r>
              <a:t>Dedicated log_pgsql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60520"/>
            <a:ext cx="5303520" cy="6400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160520"/>
            <a:ext cx="109728" cy="64008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06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database.php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alibri"/>
              </a:defRPr>
            </a:pPr>
            <a:r>
              <a:t>Two PostgreSQL connections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37760"/>
            <a:ext cx="5303520" cy="6400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937760"/>
            <a:ext cx="109728" cy="6400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LogsPage.jsx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alibri"/>
              </a:defRPr>
            </a:pPr>
            <a:r>
              <a:t>Filterable viewer: method, status, date,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715000"/>
            <a:ext cx="5303520" cy="640080"/>
          </a:xfrm>
          <a:prstGeom prst="round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5715000"/>
            <a:ext cx="109728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760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api.js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E6E6F0"/>
                </a:solidFill>
                <a:latin typeface="Calibri"/>
              </a:defRPr>
            </a:pPr>
            <a:r>
              <a:t>Axios instance with token attached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🧠 KEY ENGINEERING DECISIONS — Reasoning Behind Choices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577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577840" cy="457200"/>
          </a:xfrm>
          <a:prstGeom prst="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🌐 Why Global Middleware?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2323C"/>
                </a:solidFill>
                <a:latin typeface="Calibri"/>
              </a:defRPr>
            </a:pPr>
            <a:r>
              <a:t>Middleware groups (api) only run after router matches route. Requests failing auth 401, forbidden 403, not found 404 never reached logger → invisible failures. Global $middleware in Kernel.php runs unconditionally BEFORE routing, BEFORE auth, guaranteeing 100% visibility.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7DFF"/>
                </a:solidFill>
                <a:latin typeface="Calibri"/>
              </a:defRPr>
            </a:pPr>
            <a:r>
              <a:t>✅ Problem Solved: Complete error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577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577840" cy="4572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⚡ Why terminate() vs handle()?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2323C"/>
                </a:solidFill>
                <a:latin typeface="Calibri"/>
              </a:defRPr>
            </a:pPr>
            <a:r>
              <a:t>Logging inline in handle() = client waits for ApiLog::create() DB write → slowdown under load. terminate() runs AFTER response sent → write behind scenes, zero perceived latency. Same request lifecycle, no extra infra.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291840"/>
            <a:ext cx="5029200" cy="32004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310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BE"/>
                </a:solidFill>
                <a:latin typeface="Calibri"/>
              </a:defRPr>
            </a:pPr>
            <a:r>
              <a:t>✅ Benefit: Zero-latency 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577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5577840" cy="4572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📨 Why Not Queue (ShouldQueue)?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2323C"/>
                </a:solidFill>
                <a:latin typeface="Calibri"/>
              </a:defRPr>
            </a:pPr>
            <a:r>
              <a:t>Queue removes log from request cycle BUT requires permanently running worker, jobs table, added operational complexity disproportionate to problem. Terminable middleware achieves same non-blocking benefit with no extra infra to deploy/monitor.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035040"/>
            <a:ext cx="5029200" cy="32004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0533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43"/>
                </a:solidFill>
                <a:latin typeface="Calibri"/>
              </a:defRPr>
            </a:pPr>
            <a:r>
              <a:t>✅ Trade-off: Simplicity wins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114800"/>
            <a:ext cx="55778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114800"/>
            <a:ext cx="5577840" cy="4572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💾 Why Two PostgreSQL DBs?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2323C"/>
                </a:solidFill>
                <a:latin typeface="Calibri"/>
              </a:defRPr>
            </a:pPr>
            <a:r>
              <a:t>Log writes on EVERY API call → very high write volume. Isolating api_logs in own log_pgsql connection ensures logging never causes lock contention / perf degradation on students, notes tables serving user-facing requests. Configured via Eloquent connection.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6035040"/>
            <a:ext cx="5029200" cy="32004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60533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2D55"/>
                </a:solidFill>
                <a:latin typeface="Calibri"/>
              </a:defRPr>
            </a:pPr>
            <a:r>
              <a:t>✅ Benefit: Performance isolation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✅ FEATURE CHECKLIST — What Shipped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Sanctum Token Authentication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Login, logout, /me, Bcrypt, email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50876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Role-Based Access — Professor &amp; Student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Middleware + controller second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50876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Login Alert Emails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Dispatched on successful sign-in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9748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3464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788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Student CRUD + Validation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GET POST PUT DELETE + mass-assignment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69748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83464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788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Notes Management (One-to-Many)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hasMany / belongsTo via user_id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69748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283464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788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Global Middleware Logging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Captures 200 201 400 401 403 404 422 500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2336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Terminate Middleware Zero-Latency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Response first, log after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02336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416052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160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Dual PostgreSQL Architecture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pgsql + log_pgsql isolation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02336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0" y="416052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Log Filter API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Method, status, date, endpoint, user — paginated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34924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48640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440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AWS EC2 + Nginx Production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Ubuntu, reverse proxy, static serving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534924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548640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440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AWS Backup Vault &amp; Recovery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Disaster recovery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5349240"/>
            <a:ext cx="36576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12480" y="5486400"/>
            <a:ext cx="457200" cy="27432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5440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4141E"/>
                </a:solidFill>
                <a:latin typeface="Calibri"/>
              </a:defRPr>
            </a:pPr>
            <a:r>
              <a:t>Postman-Verified Errors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A5A64"/>
                </a:solidFill>
                <a:latin typeface="Calibri"/>
              </a:defRPr>
            </a:pPr>
            <a:r>
              <a:t>401/403/404/422/500 tested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3657600"/>
            <a:ext cx="5486400" cy="5486400"/>
          </a:xfrm>
          <a:prstGeom prst="rect">
            <a:avLst/>
          </a:prstGeom>
          <a:solidFill>
            <a:srgbClr val="00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-914400"/>
            <a:ext cx="3657600" cy="36576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731520"/>
            <a:ext cx="10332720" cy="53949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🎉 THANK YOU</a:t>
            </a:r>
          </a:p>
          <a:p>
            <a:pPr algn="ctr">
              <a:spcAft>
                <a:spcPts val="800"/>
              </a:spcAft>
              <a:defRPr sz="2800" b="1">
                <a:solidFill>
                  <a:srgbClr val="00D2BE"/>
                </a:solidFill>
                <a:latin typeface="Calibri"/>
              </a:defRPr>
            </a:pPr>
            <a:r>
              <a:t>API Logging Framework</a:t>
            </a:r>
          </a:p>
          <a:p>
            <a:pPr algn="ctr">
              <a:spcAft>
                <a:spcPts val="2400"/>
              </a:spcAft>
              <a:defRPr sz="1600" b="0">
                <a:solidFill>
                  <a:srgbClr val="E6E6F0"/>
                </a:solidFill>
                <a:latin typeface="Calibri"/>
              </a:defRPr>
            </a:pPr>
            <a:r>
              <a:t>Production-Grade • Full-Stack • Observability Platform</a:t>
            </a:r>
          </a:p>
          <a:p>
            <a:pPr algn="ctr">
              <a:spcAft>
                <a:spcPts val="2400"/>
              </a:spcAft>
              <a:defRPr sz="1400" b="1">
                <a:solidFill>
                  <a:srgbClr val="FFD23F"/>
                </a:solidFill>
                <a:latin typeface="Calibri"/>
              </a:defRPr>
            </a:pPr>
            <a:r>
              <a:t>Laravel • React • PostgreSQL Dual DB • Sanctum • AWS EC2 • Nginx</a:t>
            </a:r>
          </a:p>
          <a:p>
            <a:pPr algn="ctr">
              <a:spcAft>
                <a:spcPts val="3000"/>
              </a:spcAft>
              <a:defRPr sz="1300" b="0">
                <a:solidFill>
                  <a:srgbClr val="B4B4C8"/>
                </a:solidFill>
                <a:latin typeface="Calibri"/>
              </a:defRPr>
            </a:pPr>
            <a:r>
              <a:t>Built to capture every request &amp; response without slowing it down</a:t>
            </a:r>
            <a:br/>
            <a:r>
              <a:t>Global middleware • terminate() zero-latency • dual-database isolation</a:t>
            </a:r>
            <a:br/>
            <a:r>
              <a:t>Role-based access • advanced log filters • production deployed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🚀 Ready for Production • 📊 Complete Visibility • 🔐 Secure &amp; Scalable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6C2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5379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Crafted with ❤️ using Laravel, React, PostgreSQL — Deployed on AWS EC2 + Nginx — v1.0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