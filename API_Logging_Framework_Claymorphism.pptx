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676656" y="-676656"/>
            <a:ext cx="4114800" cy="274320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31520" y="-731520"/>
            <a:ext cx="4114800" cy="274320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41664" y="-493776"/>
            <a:ext cx="4572000" cy="29260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-548640"/>
            <a:ext cx="4572000" cy="29260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81744" y="4626864"/>
            <a:ext cx="3657600" cy="256032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4572000"/>
            <a:ext cx="3657600" cy="256032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402336" y="4809744"/>
            <a:ext cx="3200400" cy="22860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457200" y="4754880"/>
            <a:ext cx="3200400" cy="228600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603504"/>
            <a:ext cx="10332720" cy="557784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"/>
            <a:ext cx="10332720" cy="5577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7315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6C2BD9"/>
                </a:solidFill>
                <a:latin typeface="Calibri"/>
              </a:defRPr>
            </a:pPr>
            <a:r>
              <a:t>⚡ API LOGGING FRAMEWORK</a:t>
            </a:r>
          </a:p>
          <a:p>
            <a:pPr algn="l">
              <a:spcAft>
                <a:spcPts val="1000"/>
              </a:spcAft>
              <a:defRPr sz="3000" b="1">
                <a:solidFill>
                  <a:srgbClr val="37324B"/>
                </a:solidFill>
                <a:latin typeface="Calibri"/>
              </a:defRPr>
            </a:pPr>
            <a:r>
              <a:t>Production-Grade Full-Stack Platform</a:t>
            </a:r>
            <a:br/>
            <a:r>
              <a:t>for Centralized API Observability</a:t>
            </a:r>
          </a:p>
          <a:p>
            <a:pPr algn="l">
              <a:spcAft>
                <a:spcPts val="1400"/>
              </a:spcAft>
              <a:defRPr sz="1400" b="0">
                <a:solidFill>
                  <a:srgbClr val="6E6982"/>
                </a:solidFill>
                <a:latin typeface="Calibri"/>
              </a:defRPr>
            </a:pPr>
            <a:r>
              <a:t>Capture every request &amp; response, monitor performance, and give teams complete visibility — without slowing it down. Built and iterated through 3 real implementations.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6464" y="3438144"/>
            <a:ext cx="1645920" cy="41148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3383280"/>
            <a:ext cx="1645920" cy="41148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Laravel Backend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9544" y="3438144"/>
            <a:ext cx="1645920" cy="41148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54680" y="3383280"/>
            <a:ext cx="1645920" cy="41148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React Axios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3438144"/>
            <a:ext cx="1645920" cy="41148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60" y="3383280"/>
            <a:ext cx="1645920" cy="41148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Dual DB 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75704" y="3438144"/>
            <a:ext cx="1645920" cy="4114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3383280"/>
            <a:ext cx="1645920" cy="4114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Sanctum 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58784" y="3438144"/>
            <a:ext cx="1645920" cy="41148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03920" y="3383280"/>
            <a:ext cx="1645920" cy="41148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AWS EC2 + Nginx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2336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6C2BD9"/>
                </a:solidFill>
                <a:latin typeface="Calibri"/>
              </a:defRPr>
            </a:pPr>
            <a:r>
              <a:t>🔥 Not a bolt-on library — fully engineered observability layer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E6982"/>
                </a:solidFill>
                <a:latin typeface="Calibri"/>
              </a:defRPr>
            </a:pPr>
            <a:r>
              <a:t>💎 Why it matters: Every API outcome 200 • 201 • 400 • 401 • 403 • 404 • 422 • 500 captured via global middleware + terminate() zero-latency.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4" y="1152144"/>
            <a:ext cx="2743200" cy="438912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1097280"/>
            <a:ext cx="2743200" cy="438912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28016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🧸 CORE PUFFS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Every Request Logged</a:t>
            </a:r>
            <a:br/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Zero-Latency terminate()</a:t>
            </a:r>
            <a:br/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Global Middleware</a:t>
            </a:r>
            <a:br/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Dual DB Isolation</a:t>
            </a:r>
            <a:br/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Role-Based Access</a:t>
            </a:r>
            <a:br/>
          </a:p>
          <a:p>
            <a:pPr algn="l">
              <a:spcAft>
                <a:spcPts val="8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Advanced Filters</a:t>
            </a:r>
            <a:br/>
          </a:p>
          <a:p>
            <a:pPr algn="l">
              <a:spcAft>
                <a:spcPts val="14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✓ AWS Production</a:t>
            </a:r>
            <a:br/>
          </a:p>
          <a:p>
            <a:pPr algn="ctr">
              <a:spcAft>
                <a:spcPts val="400"/>
              </a:spcAft>
              <a:defRPr sz="1000" b="1">
                <a:solidFill>
                  <a:srgbClr val="966432"/>
                </a:solidFill>
                <a:latin typeface="Calibri"/>
              </a:defRPr>
            </a:pPr>
            <a:r>
              <a:t>🎨 Claymorphism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7324B"/>
                </a:solidFill>
                <a:latin typeface="Calibri"/>
              </a:defRPr>
            </a:pPr>
            <a:r>
              <a:t>🧁 TABLE OF CONTENTS — Claymorphism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1655064"/>
            <a:ext cx="777240" cy="77724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77240" cy="77724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Overview &amp; Problem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Why observability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3" y="151790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1383" y="1655064"/>
            <a:ext cx="777240" cy="77724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19" y="1600200"/>
            <a:ext cx="777240" cy="77724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19" y="16002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6002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Deliberate choices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84378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" y="2980944"/>
            <a:ext cx="777240" cy="7772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926080"/>
            <a:ext cx="777240" cy="7772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260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926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System Architecture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Request flow &amp;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3" y="284378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59" y="278892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01383" y="2980944"/>
            <a:ext cx="777240" cy="77724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19" y="2926080"/>
            <a:ext cx="777240" cy="77724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292608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39" y="2926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Modules Deep Dive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Auth RBAC CRUD Logging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16966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11480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" y="4306824"/>
            <a:ext cx="777240" cy="7772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251960"/>
            <a:ext cx="777240" cy="7772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519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251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Log Filter + Dual DB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Query &amp; isolation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4223" y="4169664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59" y="4114800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01383" y="4306824"/>
            <a:ext cx="777240" cy="77724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46519" y="4251960"/>
            <a:ext cx="777240" cy="77724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19" y="42519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39" y="4251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Deployment &amp; Setup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AWS + Local + Env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5495543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" y="5440679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664" y="5632703"/>
            <a:ext cx="777240" cy="77724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5800" y="5577839"/>
            <a:ext cx="777240" cy="77724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577839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557783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Engineering Decisions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Trade-offs explained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64223" y="5495543"/>
            <a:ext cx="5394960" cy="1051560"/>
          </a:xfrm>
          <a:prstGeom prst="roundRect">
            <a:avLst/>
          </a:prstGeom>
          <a:solidFill>
            <a:srgbClr val="D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9359" y="5440679"/>
            <a:ext cx="53949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C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01383" y="5632703"/>
            <a:ext cx="777240" cy="7772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46519" y="5577839"/>
            <a:ext cx="777240" cy="7772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19" y="5577839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324B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39" y="557783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Feature Checklist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Shipped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2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2A2442"/>
          </a:solidFill>
          <a:ln w="3175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🌈 OVERVIEW — What problem does this solve?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486400" cy="219456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219456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🍓 THE PROBLEM — APIs are invisible until break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Developers fallback on:</a:t>
            </a:r>
            <a:br/>
            <a:r>
              <a:t>• Scattered var_dump() calls</a:t>
            </a:r>
            <a:br/>
            <a:r>
              <a:t>• Generic web-server logs</a:t>
            </a:r>
            <a:br/>
            <a:r>
              <a:t>• Expensive third-party APM tools</a:t>
            </a:r>
            <a:br/>
            <a:br/>
            <a:r>
              <a:t>Basic questions unanswered: Who called? What did they send? Why did it fail?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4" y="1517904"/>
            <a:ext cx="5486400" cy="219456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486400" cy="219456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🌿 THE SOLUTION — Full observability layer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Captures, stores, filters, manages logs for EVERY single API request &amp; response — success or failure.</a:t>
            </a:r>
            <a:br/>
            <a:br/>
            <a:r>
              <a:t>✓ Zero impact response time</a:t>
            </a:r>
            <a:br/>
            <a:r>
              <a:t>✓ Fully engineered, not bolt-on</a:t>
            </a:r>
            <a:br/>
            <a:r>
              <a:t>✓ Iterated through 3 real implementations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3986784"/>
            <a:ext cx="11064240" cy="100584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64240" cy="100584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24B"/>
                </a:solidFill>
                <a:latin typeface="Calibri"/>
              </a:defRPr>
            </a:pPr>
            <a:r>
              <a:t>👥 TWO ROLES. ONE PLATFORM.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4443984"/>
            <a:ext cx="5120640" cy="4572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5120640" cy="457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🎓 Professor → Create/update/delete notes; full read; via Student CRUD [WRITE+READ]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4443984"/>
            <a:ext cx="5120640" cy="4572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4389120"/>
            <a:ext cx="5120640" cy="457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👨‍🎓 Student → Read-only notes; Sanctum token auth [READ ONLY]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358384"/>
            <a:ext cx="11064240" cy="10058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64240" cy="10058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5000"/>
                </a:solidFill>
                <a:latin typeface="Calibri"/>
              </a:defRPr>
            </a:pPr>
            <a:r>
              <a:t>💡 Differentiator: Not a logging library. It's a production observability layer built to answer who, what, why for every API interaction — with bubbly claymorphism UI!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🧰 TECH STACK — Every tech chosen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2743200" cy="233172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743200" cy="233172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2157984"/>
            <a:ext cx="2468880" cy="150876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🚀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Laravel, PHP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REST APIs, routing, middleware, Eloquent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517904"/>
            <a:ext cx="2743200" cy="23317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743200" cy="233172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66744" y="2157984"/>
            <a:ext cx="2468880" cy="150876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10312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⚛️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240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React, Axios, Bootstrap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SPA client, HTTP,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1517904"/>
            <a:ext cx="2743200" cy="233172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2743200" cy="233172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92824" y="2157984"/>
            <a:ext cx="2468880" cy="150876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210312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🔐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Sanctum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Lightweight revocable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81744" y="1517904"/>
            <a:ext cx="2743200" cy="233172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1463040"/>
            <a:ext cx="2743200" cy="233172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18904" y="2157984"/>
            <a:ext cx="2468880" cy="150876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64040" y="210312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6002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🐘 Primary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2402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PostgreSQL pgsql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Students, notes, tokens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169664"/>
            <a:ext cx="2743200" cy="233172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114800"/>
            <a:ext cx="2743200" cy="233172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" y="4809744"/>
            <a:ext cx="2468880" cy="150876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75488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📊 Logging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92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PostgreSQL log_pgsql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Isolated api_logs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9584" y="4169664"/>
            <a:ext cx="2743200" cy="233172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74720" y="4114800"/>
            <a:ext cx="2743200" cy="233172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66744" y="4809744"/>
            <a:ext cx="2468880" cy="150876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11880" y="475488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☁️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4892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AWS EC2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Production hosting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55664" y="4169664"/>
            <a:ext cx="2743200" cy="23317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114800"/>
            <a:ext cx="2743200" cy="233172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92824" y="4809744"/>
            <a:ext cx="2468880" cy="150876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37960" y="475488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🌐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892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Ubuntu, Nginx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Reverse proxy + static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81744" y="4169664"/>
            <a:ext cx="2743200" cy="2331720"/>
          </a:xfrm>
          <a:prstGeom prst="round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26880" y="4114800"/>
            <a:ext cx="2743200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518904" y="4809744"/>
            <a:ext cx="2468880" cy="1508760"/>
          </a:xfrm>
          <a:prstGeom prst="roundRect">
            <a:avLst/>
          </a:prstGeom>
          <a:solidFill>
            <a:srgbClr val="C8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64040" y="4754880"/>
            <a:ext cx="24688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4251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🧰 Tooling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892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Git, Postman, Composer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Version control,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🏗️ SYSTEM ARCHITECTURE — Request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517904"/>
            <a:ext cx="1828800" cy="59436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828800" cy="59436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CLIENT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6624" y="1563624"/>
            <a:ext cx="4206240" cy="5029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1508760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361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React → Axios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267712"/>
            <a:ext cx="1828800" cy="59436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1828800" cy="59436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GLOBAL MIDDLEWARE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6624" y="2313432"/>
            <a:ext cx="4206240" cy="50292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2258568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ApiLoggerMiddleware::handle() start timer ⏱️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017520"/>
            <a:ext cx="1828800" cy="59436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962656"/>
            <a:ext cx="1828800" cy="59436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62656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SANCTUM 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06624" y="3063240"/>
            <a:ext cx="4206240" cy="50292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51760" y="3008376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0358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Validate token, user &amp; 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3767328"/>
            <a:ext cx="1828800" cy="59436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712464"/>
            <a:ext cx="1828800" cy="59436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124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6624" y="3813048"/>
            <a:ext cx="4206240" cy="50292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51760" y="3758184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7856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Business logic / validation / CRUD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4517136"/>
            <a:ext cx="1828800" cy="59436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462272"/>
            <a:ext cx="1828800" cy="59436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6227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MAIN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06624" y="4562856"/>
            <a:ext cx="4206240" cy="5029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51760" y="4507992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53542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PostgreSQL pgsql — students | notes | tokens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" y="5266943"/>
            <a:ext cx="1828800" cy="59436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212079"/>
            <a:ext cx="1828800" cy="59436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1207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RESPONSE 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6624" y="5312663"/>
            <a:ext cx="4206240" cy="50292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51760" y="5257799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528523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Sent immediately — ZERO wait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" y="6016752"/>
            <a:ext cx="1828800" cy="59436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5961888"/>
            <a:ext cx="1828800" cy="59436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96188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TERMINATE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06624" y="6062472"/>
            <a:ext cx="4206240" cy="50292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651760" y="6007608"/>
            <a:ext cx="4206240" cy="502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0" y="60350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324B"/>
                </a:solidFill>
                <a:latin typeface="Calibri"/>
              </a:defRPr>
            </a:pPr>
            <a:r>
              <a:t>terminate() AFTER response → log_pgsql api_logs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70064" y="1517904"/>
            <a:ext cx="4572000" cy="512064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15200" y="1463040"/>
            <a:ext cx="457200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15544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1">
                <a:solidFill>
                  <a:srgbClr val="6C2BD9"/>
                </a:solidFill>
                <a:latin typeface="Calibri"/>
              </a:defRPr>
            </a:pPr>
            <a:r>
              <a:t>💎 WHY IT MATTERS — Clay View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Global Guarantee</a:t>
            </a:r>
          </a:p>
          <a:p>
            <a:pPr algn="l">
              <a:spcAft>
                <a:spcPts val="10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Registered in Kernel.php $middleware, not api group. Runs on EVERY request incl. 401/403/404.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Zero Latency</a:t>
            </a:r>
          </a:p>
          <a:p>
            <a:pPr algn="l">
              <a:spcAft>
                <a:spcPts val="10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terminate() after client response. DB write behind scenes.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Captured Fields</a:t>
            </a:r>
          </a:p>
          <a:p>
            <a:pPr algn="l">
              <a:spcAft>
                <a:spcPts val="12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• user &amp; role, method, endpoint, headers</a:t>
            </a:r>
            <a:br/>
            <a:r>
              <a:t>• body req/res, IP, UA, status, time ms</a:t>
            </a:r>
          </a:p>
          <a:p>
            <a:pPr algn="l">
              <a:spcAft>
                <a:spcPts val="400"/>
              </a:spcAft>
              <a:defRPr sz="1000" b="1">
                <a:solidFill>
                  <a:srgbClr val="C82850"/>
                </a:solidFill>
                <a:latin typeface="Calibri"/>
              </a:defRPr>
            </a:pPr>
            <a:r>
              <a:t>✅ All: 200 201 400 401 403 404 422 500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2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2A2442"/>
          </a:solidFill>
          <a:ln w="3175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🖼️ ARCHITECTURE DIAGRAM — Visual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426464"/>
            <a:ext cx="11064240" cy="521208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📸 SCREENSHOTS — Visual Walkthrough (Clay Cards)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577840" cy="246888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246888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1883664"/>
            <a:ext cx="5303520" cy="196596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1965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7324B"/>
                </a:solidFill>
                <a:latin typeface="Calibri"/>
              </a:defRPr>
            </a:pPr>
            <a:r>
              <a:t>Student Dashboard</a:t>
            </a:r>
          </a:p>
        </p:txBody>
      </p:sp>
      <p:pic>
        <p:nvPicPr>
          <p:cNvPr id="10" name="Picture 9" descr="im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5120640" cy="1783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55664" y="1517904"/>
            <a:ext cx="5577840" cy="24688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577840" cy="24688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92824" y="1883664"/>
            <a:ext cx="5303520" cy="196596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1828800"/>
            <a:ext cx="5303520" cy="1965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7324B"/>
                </a:solidFill>
                <a:latin typeface="Calibri"/>
              </a:defRPr>
            </a:pPr>
            <a:r>
              <a:t>Notes Dashboard</a:t>
            </a:r>
          </a:p>
        </p:txBody>
      </p:sp>
      <p:pic>
        <p:nvPicPr>
          <p:cNvPr id="16" name="Picture 15" descr="image 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20240"/>
            <a:ext cx="5120640" cy="17830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03504" y="4215384"/>
            <a:ext cx="5577840" cy="246888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5577840" cy="246888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" y="4581144"/>
            <a:ext cx="5303520" cy="196596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5303520" cy="1965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7324B"/>
                </a:solidFill>
                <a:latin typeface="Calibri"/>
              </a:defRPr>
            </a:pPr>
            <a:r>
              <a:t>Student CRUD</a:t>
            </a:r>
          </a:p>
        </p:txBody>
      </p:sp>
      <p:pic>
        <p:nvPicPr>
          <p:cNvPr id="22" name="Picture 21" descr="imag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17720"/>
            <a:ext cx="5120640" cy="17830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55664" y="4215384"/>
            <a:ext cx="5577840" cy="246888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160520"/>
            <a:ext cx="5577840" cy="246888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92824" y="4581144"/>
            <a:ext cx="5303520" cy="196596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4526280"/>
            <a:ext cx="5303520" cy="1965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7324B"/>
                </a:solidFill>
                <a:latin typeface="Calibri"/>
              </a:defRPr>
            </a:pPr>
            <a:r>
              <a:t>Create Notes</a:t>
            </a:r>
          </a:p>
        </p:txBody>
      </p:sp>
      <p:pic>
        <p:nvPicPr>
          <p:cNvPr id="28" name="Picture 27" descr="image 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617720"/>
            <a:ext cx="512064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🧩 MODULES — Feature Puffs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17904"/>
            <a:ext cx="2788920" cy="237744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88920" cy="237744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" y="2066544"/>
            <a:ext cx="2514600" cy="164592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🔐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Sanctum tokens, Bcrypt, /me, email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517904"/>
            <a:ext cx="2788920" cy="237744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9272" y="1463040"/>
            <a:ext cx="2788920" cy="237744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11296" y="2066544"/>
            <a:ext cx="2514600" cy="16459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201168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🛡️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4884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Professor vs Student, RoleMiddleware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517904"/>
            <a:ext cx="2788920" cy="237744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463040"/>
            <a:ext cx="2788920" cy="237744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2066544"/>
            <a:ext cx="2514600" cy="164592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201168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👨‍🎓 Student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14884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GET POST PUT DELETE, $fillable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517904"/>
            <a:ext cx="2788920" cy="23774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6296" y="1463040"/>
            <a:ext cx="2788920" cy="23774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2066544"/>
            <a:ext cx="2514600" cy="164592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63456" y="201168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600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📝 Notes Mgmt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14884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hasMany / belongsTo via user_id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4169664"/>
            <a:ext cx="2788920" cy="237744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4114800"/>
            <a:ext cx="2788920" cy="237744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7784" y="4718304"/>
            <a:ext cx="2514600" cy="164592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📡 Logging 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Global + captures all fields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4136" y="4169664"/>
            <a:ext cx="2788920" cy="23774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19272" y="4114800"/>
            <a:ext cx="2788920" cy="23774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11296" y="4718304"/>
            <a:ext cx="2514600" cy="164592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56432" y="466344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2152" y="4251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🔍 Filter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93592" y="48006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method, status, date, endpoint, user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7648" y="4169664"/>
            <a:ext cx="2788920" cy="237744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72784" y="4114800"/>
            <a:ext cx="2788920" cy="237744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64808" y="4718304"/>
            <a:ext cx="2514600" cy="164592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9944" y="466344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4251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💾 Dual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8006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pgsql + log_pgsql isolation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4169664"/>
            <a:ext cx="2788920" cy="237744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26296" y="4114800"/>
            <a:ext cx="2788920" cy="237744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418320" y="4718304"/>
            <a:ext cx="2514600" cy="164592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63456" y="4663440"/>
            <a:ext cx="251460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09176" y="4251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☁️ AWS 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0616" y="48006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982"/>
                </a:solidFill>
                <a:latin typeface="Calibri"/>
              </a:defRPr>
            </a:pPr>
            <a:r>
              <a:t>EC2 + Nginx + Backup vault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📡 API LOGGING MIDDLEWARE — Core Puff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6858000" cy="512064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85800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6C2BD9"/>
                </a:solidFill>
                <a:latin typeface="Calibri"/>
              </a:defRPr>
            </a:pPr>
            <a:r>
              <a:t>🔥 How Clay Logs Work — Bubbly but Powerful</a:t>
            </a:r>
          </a:p>
          <a:p>
            <a:pPr algn="l">
              <a:spcAft>
                <a:spcPts val="1000"/>
              </a:spcAft>
              <a:defRPr sz="1100" b="0">
                <a:solidFill>
                  <a:srgbClr val="6E6982"/>
                </a:solidFill>
                <a:latin typeface="Calibri"/>
              </a:defRPr>
            </a:pPr>
            <a:r>
              <a:t>Captures user, role, method, endpoint, headers, bodies, IP, UA, status, response time.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1️⃣ Global Registration (Puffy Border)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In Kernel.php $middleware, not api group. Groups only after router match → 401/403/404 invisible before. Global = 100% visibility.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2️⃣ handle() — Start Timer ⏱️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Starts microtime, passes request.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3️⃣ terminate() — Zero-Latency Puff</a:t>
            </a:r>
          </a:p>
          <a:p>
            <a:pPr algn="l">
              <a:spcAft>
                <a:spcPts val="1000"/>
              </a:spcAft>
              <a:defRPr sz="1000" b="0">
                <a:solidFill>
                  <a:srgbClr val="6E6982"/>
                </a:solidFill>
                <a:latin typeface="Calibri"/>
              </a:defRPr>
            </a:pPr>
            <a:r>
              <a:t>Called AFTER response sent. ApiLog::create() in log_pgsql behind scenes. Zero perceived latency.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6C2BD9"/>
                </a:solidFill>
                <a:latin typeface="Calibri"/>
              </a:defRPr>
            </a:pPr>
            <a:r>
              <a:t>✅ Covers 200 201 400 401 403 404 422 500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27264" y="1517904"/>
            <a:ext cx="3931920" cy="2560320"/>
          </a:xfrm>
          <a:prstGeom prst="roundRect">
            <a:avLst/>
          </a:prstGeom>
          <a:solidFill>
            <a:srgbClr val="2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463040"/>
            <a:ext cx="3931920" cy="2560320"/>
          </a:xfrm>
          <a:prstGeom prst="roundRect">
            <a:avLst/>
          </a:prstGeom>
          <a:solidFill>
            <a:srgbClr val="2A2442"/>
          </a:solidFill>
          <a:ln w="3175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E678"/>
                </a:solidFill>
                <a:latin typeface="Calibri"/>
              </a:defRPr>
            </a:pPr>
            <a:r>
              <a:t>Kernel.php</a:t>
            </a:r>
          </a:p>
          <a:p>
            <a:pPr algn="l">
              <a:spcAft>
                <a:spcPts val="1200"/>
              </a:spcAft>
              <a:defRPr sz="1000" b="0">
                <a:solidFill>
                  <a:srgbClr val="F8F6FF"/>
                </a:solidFill>
                <a:latin typeface="Calibri"/>
              </a:defRPr>
            </a:pPr>
            <a:r>
              <a:t>$middleware = [</a:t>
            </a:r>
            <a:br/>
            <a:r>
              <a:t>  ...</a:t>
            </a:r>
            <a:br/>
            <a:r>
              <a:t>  ApiLoggerMiddleware::class,</a:t>
            </a:r>
            <a:br/>
            <a:r>
              <a:t>];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FFE678"/>
                </a:solidFill>
                <a:latin typeface="Calibri"/>
              </a:defRPr>
            </a:pPr>
            <a:r>
              <a:t>Middleware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8F6FF"/>
                </a:solidFill>
                <a:latin typeface="Calibri"/>
              </a:defRPr>
            </a:pPr>
            <a:r>
              <a:t>handle(){ start=microtime()</a:t>
            </a:r>
            <a:br/>
            <a:r>
              <a:t> return next(req) }</a:t>
            </a:r>
            <a:br/>
            <a:r>
              <a:t>terminate(){ ApiLog::create()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27264" y="4261104"/>
            <a:ext cx="3931920" cy="23774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4206240"/>
            <a:ext cx="3931920" cy="23774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9768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645000"/>
                </a:solidFill>
                <a:latin typeface="Calibri"/>
              </a:defRPr>
            </a:pPr>
            <a:r>
              <a:t>⚡ Performance Win — Clay Style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503C00"/>
                </a:solidFill>
                <a:latin typeface="Calibri"/>
              </a:defRPr>
            </a:pPr>
            <a:r>
              <a:t>Inline in handle(): client waits for DB → slow.</a:t>
            </a:r>
            <a:br/>
            <a:br/>
            <a:r>
              <a:t>terminate(): response first, log after. Same lifecycle, no extra infra, zero latency.</a:t>
            </a:r>
            <a:br/>
            <a:br/>
            <a:r>
              <a:t>Queue evaluated first but needed worker + jobs table → overkill.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🔍 LOG FILTER API + 💾 DUAL-DB — Claymorphism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669280" cy="301752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66928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24B"/>
                </a:solidFill>
                <a:latin typeface="Calibri"/>
              </a:defRPr>
            </a:pPr>
            <a:r>
              <a:t>🔎 Filter Puffs — Paginated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066544"/>
            <a:ext cx="5303520" cy="347472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347472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24B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GET POST PUT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478024"/>
            <a:ext cx="5303520" cy="347472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5303520" cy="347472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24B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status_code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404 500 etc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2889504"/>
            <a:ext cx="5303520" cy="347472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5303520" cy="347472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24B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from / 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Timestamp range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3300984"/>
            <a:ext cx="5303520" cy="347472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5303520" cy="347472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24B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Partial URI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3712464"/>
            <a:ext cx="5303520" cy="347472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5303520" cy="347472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24B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7324B"/>
                </a:solidFill>
                <a:latin typeface="Calibri"/>
              </a:defRPr>
            </a:pPr>
            <a:r>
              <a:t>user_id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By auth user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4261104"/>
            <a:ext cx="5303520" cy="457200"/>
          </a:xfrm>
          <a:prstGeom prst="roundRect">
            <a:avLst/>
          </a:prstGeom>
          <a:solidFill>
            <a:srgbClr val="2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4206240"/>
            <a:ext cx="5303520" cy="457200"/>
          </a:xfrm>
          <a:prstGeom prst="roundRect">
            <a:avLst/>
          </a:prstGeom>
          <a:solidFill>
            <a:srgbClr val="2A2442"/>
          </a:solidFill>
          <a:ln w="31750">
            <a:solidFill>
              <a:srgbClr val="3C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GET /api/logs?method=POST&amp;status=422&amp;from=2024-01-01 → paginated 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4901184"/>
            <a:ext cx="5669280" cy="155448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846320"/>
            <a:ext cx="5669280" cy="155448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💾 Dual DB — Why Two? (Clay Isolation)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37324B"/>
                </a:solidFill>
                <a:latin typeface="Calibri"/>
              </a:defRPr>
            </a:pPr>
            <a:r>
              <a:t>• pgsql → students, notes, tokens</a:t>
            </a:r>
            <a:br/>
            <a:r>
              <a:t>• log_pgsql → api_logs, dedicated ApiLog model</a:t>
            </a:r>
            <a:br/>
            <a:r>
              <a:t>• Prevents lock contention, perf isolation</a:t>
            </a:r>
            <a:br/>
            <a:r>
              <a:t>• config/database.php two connections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5664" y="1517904"/>
            <a:ext cx="5486400" cy="29260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1463040"/>
            <a:ext cx="5486400" cy="29260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37324B"/>
                </a:solidFill>
                <a:latin typeface="Calibri"/>
              </a:defRPr>
            </a:pPr>
            <a:r>
              <a:t>☁️ AWS Deployment — Puffy Cloud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Ubuntu EC2 single instance:</a:t>
            </a:r>
            <a:br/>
            <a:r>
              <a:t>• Nginx → React static + reverse proxy to PHP-FPM</a:t>
            </a:r>
            <a:br/>
            <a:r>
              <a:t>• Laravel + both PostgreSQL</a:t>
            </a:r>
            <a:br/>
            <a:r>
              <a:t>• AWS Backup vault, plan, recovery points</a:t>
            </a:r>
            <a:br/>
            <a:br/>
            <a:r>
              <a:t>Flow: Client → Nginx → React/Laravel → Main DB → Response → Terminate → Log 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55664" y="4718304"/>
            <a:ext cx="5486400" cy="173736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4663440"/>
            <a:ext cx="5486400" cy="173736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754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645000"/>
                </a:solidFill>
                <a:latin typeface="Calibri"/>
              </a:defRPr>
            </a:pPr>
            <a:r>
              <a:t>🔐 RBAC — Clay Shield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503C00"/>
                </a:solidFill>
                <a:latin typeface="Calibri"/>
              </a:defRPr>
            </a:pPr>
            <a:r>
              <a:t>Professor: Full CRUD notes</a:t>
            </a:r>
            <a:br/>
            <a:r>
              <a:t>Student: Read-only, Sanctum token</a:t>
            </a:r>
            <a:br/>
            <a:r>
              <a:t>Enforced RoleMiddleware + controller checks</a:t>
            </a:r>
            <a:br/>
            <a:r>
              <a:t>Form Request + $fillable anti mass-assignment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⚙️ LOCAL SETUP — Clay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2926080" cy="118872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926080" cy="118872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7324B"/>
                </a:solidFill>
                <a:latin typeface="Calibri"/>
              </a:defRPr>
            </a:pPr>
            <a:r>
              <a:t>📋 Prerequisites — Puffy List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7324B"/>
                </a:solidFill>
                <a:latin typeface="Calibri"/>
              </a:defRPr>
            </a:pPr>
            <a:r>
              <a:t>PHP 8.1+ • Composer 2.0+</a:t>
            </a:r>
            <a:br/>
            <a:r>
              <a:t>Node 18+ • PostgreSQL 13+</a:t>
            </a:r>
            <a:br/>
            <a:r>
              <a:t>Two DBs: main +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2889504"/>
            <a:ext cx="3657600" cy="292608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657600" cy="292608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" y="3346704"/>
            <a:ext cx="3383280" cy="22860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91840"/>
            <a:ext cx="33832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1️⃣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git clone &lt;repo&gt;</a:t>
            </a:r>
            <a:br/>
            <a:r>
              <a:t>cd api-logging-framework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2889504"/>
            <a:ext cx="3657600" cy="292608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834640"/>
            <a:ext cx="3657600" cy="292608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81144" y="3346704"/>
            <a:ext cx="3383280" cy="228600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3291840"/>
            <a:ext cx="33832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2️⃣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composer install</a:t>
            </a:r>
            <a:br/>
            <a:r>
              <a:t>cp .env.example .env</a:t>
            </a:r>
            <a:br/>
            <a:r>
              <a:t>php artisan key:generate</a:t>
            </a:r>
            <a:br/>
            <a:r>
              <a:t>php artisan migrate</a:t>
            </a:r>
            <a:br/>
            <a:r>
              <a:t>migrate --database=log_pgsql</a:t>
            </a:r>
            <a:br/>
            <a:r>
              <a:t>storage:link</a:t>
            </a:r>
            <a:br/>
            <a:r>
              <a:t>php artisan serve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2889504"/>
            <a:ext cx="3657600" cy="292608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2834640"/>
            <a:ext cx="3657600" cy="292608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21624" y="3346704"/>
            <a:ext cx="3383280" cy="228600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3291840"/>
            <a:ext cx="3383280" cy="2286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3️⃣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3832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324B"/>
                </a:solidFill>
                <a:latin typeface="Calibri"/>
              </a:defRPr>
            </a:pPr>
            <a:r>
              <a:t>npm install</a:t>
            </a:r>
            <a:br/>
            <a:r>
              <a:t>npm run dev</a:t>
            </a:r>
            <a:br/>
            <a:r>
              <a:t>→ http://localhost:5173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6089904"/>
            <a:ext cx="11064240" cy="54864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6035040"/>
            <a:ext cx="11064240" cy="54864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324B"/>
                </a:solidFill>
                <a:latin typeface="Calibri"/>
              </a:defRPr>
            </a:pPr>
            <a:r>
              <a:t>🔑 ENV: DB_*, LOG_DB_* (log_pgsql), SANCTUM_STATEFUL_DOMAINS, MAIL_* for alerts • .env gitignored never commit! Clay secure!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📁 PROJECT STRUCTURE — Clay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486400" cy="50292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7324B"/>
                </a:solidFill>
                <a:latin typeface="Calibri"/>
              </a:defRPr>
            </a:pPr>
            <a:r>
              <a:t>api-logging-framework/</a:t>
            </a:r>
            <a:br/>
            <a:r>
              <a:t>├── backend/</a:t>
            </a:r>
            <a:br/>
            <a:r>
              <a:t>│   ├── app/Http/</a:t>
            </a:r>
            <a:br/>
            <a:r>
              <a:t>│   │   ├── Controllers/ → Auth, Student, Note, Log</a:t>
            </a:r>
            <a:br/>
            <a:r>
              <a:t>│   │   ├── Middleware/</a:t>
            </a:r>
            <a:br/>
            <a:r>
              <a:t>│   │   │   ├── ApiLoggerMiddleware.php (global+terminate) 🧸</a:t>
            </a:r>
            <a:br/>
            <a:r>
              <a:t>│   │   │   └── RoleMiddleware.php (RBAC) 🛡️</a:t>
            </a:r>
            <a:br/>
            <a:r>
              <a:t>│   │   └── Kernel.php (registration) </a:t>
            </a:r>
            <a:br/>
            <a:r>
              <a:t>│   ├── Models/</a:t>
            </a:r>
            <a:br/>
            <a:r>
              <a:t>│   │   ├── Student.php hasMany Note</a:t>
            </a:r>
            <a:br/>
            <a:r>
              <a:t>│   │   ├── Note.php belongsTo Student</a:t>
            </a:r>
            <a:br/>
            <a:r>
              <a:t>│   │   └── ApiLog.php uses log_pgsql 💾</a:t>
            </a:r>
            <a:br/>
            <a:r>
              <a:t>│   ├── config/database.php pgsql+log_pgsql</a:t>
            </a:r>
            <a:br/>
            <a:r>
              <a:t>│   ├── migrations/ students, notes, api_logs</a:t>
            </a:r>
            <a:br/>
            <a:r>
              <a:t>│   └── routes/api.php</a:t>
            </a:r>
            <a:br/>
            <a:r>
              <a:t>└── frontend/</a:t>
            </a:r>
            <a:br/>
            <a:r>
              <a:t>    ├── src/pages/ Login, Notes, Students, Logs (filter) 🔍</a:t>
            </a:r>
            <a:br/>
            <a:r>
              <a:t>    ├── services/api.js Axios + Sanctum token</a:t>
            </a:r>
            <a:br/>
            <a:r>
              <a:t>    └── vite.config.js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7324B"/>
                </a:solidFill>
                <a:latin typeface="Calibri"/>
              </a:defRPr>
            </a:pPr>
            <a:r>
              <a:t>⭐ KEY FILES — Clay Puffs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55664" y="1975104"/>
            <a:ext cx="5303520" cy="64008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303520" cy="64008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ApiLoggerMiddleware.php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Global + terminate zero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2752344"/>
            <a:ext cx="5303520" cy="64008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697480"/>
            <a:ext cx="5303520" cy="64008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RoleMiddleware.php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Prof vs Student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3529584"/>
            <a:ext cx="5303520" cy="6400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474720"/>
            <a:ext cx="5303520" cy="6400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ApiLog.php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Dedicated log_pgsql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4306824"/>
            <a:ext cx="5303520" cy="64008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251960"/>
            <a:ext cx="5303520" cy="64008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database.php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Two PG connections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5084064"/>
            <a:ext cx="5303520" cy="64008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5029200"/>
            <a:ext cx="5303520" cy="64008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LogsPage.jsx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49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Filterable viewer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55664" y="5861304"/>
            <a:ext cx="5303520" cy="64008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5806440"/>
            <a:ext cx="5303520" cy="64008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852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324B"/>
                </a:solidFill>
                <a:latin typeface="Calibri"/>
              </a:defRPr>
            </a:pPr>
            <a:r>
              <a:t>api.js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1264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982"/>
                </a:solidFill>
                <a:latin typeface="Calibri"/>
              </a:defRPr>
            </a:pPr>
            <a:r>
              <a:t>Axios + token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🧠 KEY ENGINEERING DECISIONS — Clay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5577840" cy="246888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246888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2020824"/>
            <a:ext cx="5303520" cy="13716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30352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🌐 Why Global Middleware?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982"/>
                </a:solidFill>
                <a:latin typeface="Calibri"/>
              </a:defRPr>
            </a:pPr>
            <a:r>
              <a:t>Middleware groups only after router match. 401/403/404 never reached logger → invisible. Global $middleware runs BEFORE routing, BEFORE auth → 100%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3483864"/>
            <a:ext cx="5029200" cy="3200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429000"/>
            <a:ext cx="5029200" cy="3200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7324B"/>
                </a:solidFill>
                <a:latin typeface="Calibri"/>
              </a:defRPr>
            </a:pPr>
            <a:r>
              <a:t>✅ Complete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1517904"/>
            <a:ext cx="5577840" cy="246888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5577840" cy="246888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92824" y="2020824"/>
            <a:ext cx="5303520" cy="137160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1965960"/>
            <a:ext cx="530352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⚡ Why terminate()?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982"/>
                </a:solidFill>
                <a:latin typeface="Calibri"/>
              </a:defRPr>
            </a:pPr>
            <a:r>
              <a:t>Inline handle() = client waits DB → slow. terminate() AFTER response → behind scenes, zero latency. Same lifecycle, no extra infra.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9984" y="3483864"/>
            <a:ext cx="5029200" cy="3200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3429000"/>
            <a:ext cx="5029200" cy="3200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7324B"/>
                </a:solidFill>
                <a:latin typeface="Calibri"/>
              </a:defRPr>
            </a:pPr>
            <a:r>
              <a:t>✅ Zero-latency 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4261104"/>
            <a:ext cx="5577840" cy="246888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5577840" cy="246888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" y="4764024"/>
            <a:ext cx="5303520" cy="137160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709160"/>
            <a:ext cx="530352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📨 Why Not Queue?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00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982"/>
                </a:solidFill>
                <a:latin typeface="Calibri"/>
              </a:defRPr>
            </a:pPr>
            <a:r>
              <a:t>Queue = worker + jobs table + complexity disproportionate. Terminable middleware same benefit, simpler.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" y="6227064"/>
            <a:ext cx="5029200" cy="3200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6172200"/>
            <a:ext cx="5029200" cy="3200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190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7324B"/>
                </a:solidFill>
                <a:latin typeface="Calibri"/>
              </a:defRPr>
            </a:pPr>
            <a:r>
              <a:t>✅ Simplicity wins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4261104"/>
            <a:ext cx="5577840" cy="246888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206240"/>
            <a:ext cx="5577840" cy="2468880"/>
          </a:xfrm>
          <a:prstGeom prst="roundRect">
            <a:avLst/>
          </a:prstGeom>
          <a:solidFill>
            <a:srgbClr val="FFD6E7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92824" y="4764024"/>
            <a:ext cx="5303520" cy="1371600"/>
          </a:xfrm>
          <a:prstGeom prst="roundRect">
            <a:avLst/>
          </a:prstGeom>
          <a:solidFill>
            <a:srgbClr val="F5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37960" y="4709160"/>
            <a:ext cx="5303520" cy="13716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F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💾 Why Two DBs?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00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982"/>
                </a:solidFill>
                <a:latin typeface="Calibri"/>
              </a:defRPr>
            </a:pPr>
            <a:r>
              <a:t>Log writes every API call = high volume. Isolation prevents lock contention on business tables. Eloquent connection.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9984" y="6227064"/>
            <a:ext cx="5029200" cy="320040"/>
          </a:xfrm>
          <a:prstGeom prst="roundRect">
            <a:avLst/>
          </a:prstGeom>
          <a:solidFill>
            <a:srgbClr val="F5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75120" y="6172200"/>
            <a:ext cx="5029200" cy="320040"/>
          </a:xfrm>
          <a:prstGeom prst="roundRect">
            <a:avLst/>
          </a:prstGeom>
          <a:solidFill>
            <a:srgbClr val="FFF5C2"/>
          </a:solidFill>
          <a:ln w="31750">
            <a:solidFill>
              <a:srgbClr val="FFD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6190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7324B"/>
                </a:solidFill>
                <a:latin typeface="Calibri"/>
              </a:defRPr>
            </a:pPr>
            <a:r>
              <a:t>✅ Performance isolation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624" y="329184"/>
            <a:ext cx="11430000" cy="91440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30000" cy="91440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7324B"/>
                </a:solidFill>
                <a:latin typeface="Calibri"/>
              </a:defRPr>
            </a:pPr>
            <a:r>
              <a:t>✅ FEATURE CHECKLIST — Clay 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5179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16550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Sanctum Token Auth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Login logout /me Bcrypt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5179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81144" y="16550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RBAC Professor &amp; Student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Middleware + 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15179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6550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6002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Login Alert Emails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On successful sign-in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28895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" y="30266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29718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Student CRUD + Validation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GET POST PUT DELETE $fillable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3984" y="28895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28346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81144" y="30266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26280" y="29718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Notes One-to-Many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hasMany belongsTo user_id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84464" y="28895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28346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21624" y="30266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29718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2926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Global Middleware Logging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200 201 400 401 403 404 422 500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" y="42611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" y="42062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0664" y="43982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5800" y="43434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343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Terminate Zero-Latency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Response first log after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3984" y="42611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89120" y="42062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81144" y="43982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26280" y="43434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4343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Dual PostgreSQL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pgsql + log_pgsql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4464" y="42611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29600" y="42062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21624" y="43982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66760" y="43434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4343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Log Filter API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Method status date endpoint user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56327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48640" y="55778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40664" y="57698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5800" y="57150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5715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5669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AWS EC2 + Nginx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Ubuntu reverse proxy static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443984" y="56327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389120" y="55778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81144" y="57698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26280" y="57150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5715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0640" y="5669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AWS Backup Vault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Disaster recovery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84464" y="5632704"/>
            <a:ext cx="3657600" cy="11430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229600" y="5577840"/>
            <a:ext cx="3657600" cy="1143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421624" y="5769864"/>
            <a:ext cx="457200" cy="32004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366760" y="5715000"/>
            <a:ext cx="457200" cy="32004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5715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7324B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5669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37324B"/>
                </a:solidFill>
                <a:latin typeface="Calibri"/>
              </a:defRPr>
            </a:pPr>
            <a:r>
              <a:t>Postman Verified Errors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982"/>
                </a:solidFill>
                <a:latin typeface="Calibri"/>
              </a:defRPr>
            </a:pPr>
            <a:r>
              <a:t>401/403/404/422/500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02336" y="-402336"/>
            <a:ext cx="3657600" cy="2743200"/>
          </a:xfrm>
          <a:prstGeom prst="roundRect">
            <a:avLst/>
          </a:prstGeom>
          <a:solidFill>
            <a:srgbClr val="CB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457200"/>
            <a:ext cx="3657600" cy="2743200"/>
          </a:xfrm>
          <a:prstGeom prst="roundRect">
            <a:avLst/>
          </a:prstGeom>
          <a:solidFill>
            <a:srgbClr val="E8E0FF"/>
          </a:solidFill>
          <a:ln w="31750">
            <a:solidFill>
              <a:srgbClr val="BCA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98864" y="-402336"/>
            <a:ext cx="3657600" cy="2743200"/>
          </a:xfrm>
          <a:prstGeom prst="roundRect">
            <a:avLst/>
          </a:prstGeom>
          <a:solidFill>
            <a:srgbClr val="A5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-457200"/>
            <a:ext cx="3657600" cy="2743200"/>
          </a:xfrm>
          <a:prstGeom prst="roundRect">
            <a:avLst/>
          </a:prstGeom>
          <a:solidFill>
            <a:srgbClr val="D6FFF5"/>
          </a:solidFill>
          <a:ln w="31750">
            <a:solidFill>
              <a:srgbClr val="8C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402336" y="4626864"/>
            <a:ext cx="3657600" cy="2743200"/>
          </a:xfrm>
          <a:prstGeom prst="roundRect">
            <a:avLst/>
          </a:prstGeom>
          <a:solidFill>
            <a:srgbClr val="94B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457200" y="4572000"/>
            <a:ext cx="3657600" cy="2743200"/>
          </a:xfrm>
          <a:prstGeom prst="roundRect">
            <a:avLst/>
          </a:prstGeom>
          <a:solidFill>
            <a:srgbClr val="D9EFFF"/>
          </a:solidFill>
          <a:ln w="31750">
            <a:solidFill>
              <a:srgbClr val="8C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98864" y="4626864"/>
            <a:ext cx="3657600" cy="2743200"/>
          </a:xfrm>
          <a:prstGeom prst="roundRect">
            <a:avLst/>
          </a:prstGeom>
          <a:solidFill>
            <a:srgbClr val="F5B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4572000"/>
            <a:ext cx="3657600" cy="2743200"/>
          </a:xfrm>
          <a:prstGeom prst="roundRect">
            <a:avLst/>
          </a:prstGeom>
          <a:solidFill>
            <a:srgbClr val="FFE5D9"/>
          </a:solidFill>
          <a:ln w="317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603504"/>
            <a:ext cx="9418320" cy="5486400"/>
          </a:xfrm>
          <a:prstGeom prst="roundRect">
            <a:avLst/>
          </a:prstGeom>
          <a:solidFill>
            <a:srgbClr val="D2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548640"/>
            <a:ext cx="9418320" cy="5486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2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8229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37324B"/>
                </a:solidFill>
                <a:latin typeface="Calibri"/>
              </a:defRPr>
            </a:pPr>
            <a:r>
              <a:t>🎉 THANK YOU — Claymorphism Edition</a:t>
            </a:r>
          </a:p>
          <a:p>
            <a:pPr algn="ctr">
              <a:spcAft>
                <a:spcPts val="800"/>
              </a:spcAft>
              <a:defRPr sz="2400" b="1">
                <a:solidFill>
                  <a:srgbClr val="6C2BD9"/>
                </a:solidFill>
                <a:latin typeface="Calibri"/>
              </a:defRPr>
            </a:pPr>
            <a:r>
              <a:t>API Logging Framework</a:t>
            </a:r>
          </a:p>
          <a:p>
            <a:pPr algn="ctr">
              <a:spcAft>
                <a:spcPts val="1800"/>
              </a:spcAft>
              <a:defRPr sz="1400" b="0">
                <a:solidFill>
                  <a:srgbClr val="6E6982"/>
                </a:solidFill>
                <a:latin typeface="Calibri"/>
              </a:defRPr>
            </a:pPr>
            <a:r>
              <a:t>Production-Grade • Full-Stack • Observability Platform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C86432"/>
                </a:solidFill>
                <a:latin typeface="Calibri"/>
              </a:defRPr>
            </a:pPr>
            <a:r>
              <a:t>Laravel • React • PostgreSQL Dual DB • Sanctum • AWS EC2 • Nginx</a:t>
            </a:r>
          </a:p>
          <a:p>
            <a:pPr algn="ctr">
              <a:spcAft>
                <a:spcPts val="2000"/>
              </a:spcAft>
              <a:defRPr sz="1200" b="0">
                <a:solidFill>
                  <a:srgbClr val="6E6982"/>
                </a:solidFill>
                <a:latin typeface="Calibri"/>
              </a:defRPr>
            </a:pPr>
            <a:r>
              <a:t>Built to capture every request &amp; response without slowing it down</a:t>
            </a:r>
            <a:br/>
            <a:r>
              <a:t>Global middleware • terminate() zero-latency • dual-database isolation</a:t>
            </a:r>
            <a:br/>
            <a:r>
              <a:t>Role-based access • advanced log filters • production deployed</a:t>
            </a:r>
          </a:p>
          <a:p>
            <a:pPr algn="ctr">
              <a:spcAft>
                <a:spcPts val="1600"/>
              </a:spcAft>
              <a:defRPr sz="1200" b="1">
                <a:solidFill>
                  <a:srgbClr val="6C2BD9"/>
                </a:solidFill>
                <a:latin typeface="Calibri"/>
              </a:defRPr>
            </a:pPr>
            <a:r>
              <a:t>🧸 Soft • Bubbly • Clay • 3D • Pastel • Chunky Borders • Thick Shadows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37324B"/>
                </a:solidFill>
                <a:latin typeface="Calibri"/>
              </a:defRPr>
            </a:pPr>
            <a:r>
              <a:t>🚀 Ready for Production • 📊 Complete Visibility • 🔐 Secure &amp;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